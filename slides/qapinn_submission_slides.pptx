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327ba876a4045" /><Relationship Type="http://schemas.openxmlformats.org/officeDocument/2006/relationships/extended-properties" Target="/docProps/app.xml" Id="Rbfaca7cb1da34b03" /><Relationship Type="http://schemas.openxmlformats.org/officeDocument/2006/relationships/officeDocument" Target="/ppt/presentation.xml" Id="R9074a4017f864b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7b750900d4429"/>
  </p:sldMasterIdLst>
  <p:notesMasterIdLst>
    <p:notesMasterId xmlns:r="http://schemas.openxmlformats.org/officeDocument/2006/relationships" r:id="Raeb0ec924d6f431e"/>
  </p:notesMasterIdLst>
  <p:sldIdLst>
    <p:sldId xmlns:r="http://schemas.openxmlformats.org/officeDocument/2006/relationships" id="256" r:id="R64bea897a19b424b"/>
    <p:sldId xmlns:r="http://schemas.openxmlformats.org/officeDocument/2006/relationships" id="257" r:id="Ra5a4602c3dbf4c30"/>
    <p:sldId xmlns:r="http://schemas.openxmlformats.org/officeDocument/2006/relationships" id="258" r:id="R21cacffa0d5e406b"/>
    <p:sldId xmlns:r="http://schemas.openxmlformats.org/officeDocument/2006/relationships" id="259" r:id="Red6aabf52ae44e2c"/>
    <p:sldId xmlns:r="http://schemas.openxmlformats.org/officeDocument/2006/relationships" id="260" r:id="R50d62b6928f54774"/>
    <p:sldId xmlns:r="http://schemas.openxmlformats.org/officeDocument/2006/relationships" id="261" r:id="R5463ed6557f443d6"/>
    <p:sldId xmlns:r="http://schemas.openxmlformats.org/officeDocument/2006/relationships" id="262" r:id="R7b950abf47324193"/>
    <p:sldId xmlns:r="http://schemas.openxmlformats.org/officeDocument/2006/relationships" id="263" r:id="R8391e350068547ac"/>
    <p:sldId xmlns:r="http://schemas.openxmlformats.org/officeDocument/2006/relationships" id="264" r:id="R2368ace20a204cca"/>
    <p:sldId xmlns:r="http://schemas.openxmlformats.org/officeDocument/2006/relationships" id="265" r:id="Ra2310ad57b96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81bd49614e48eb" /><Relationship Type="http://schemas.openxmlformats.org/officeDocument/2006/relationships/slideMaster" Target="/ppt/slideMasters/slideMaster1.xml" Id="R1107b750900d4429" /><Relationship Type="http://schemas.openxmlformats.org/officeDocument/2006/relationships/notesMaster" Target="/ppt/notesMasters/notesMaster1.xml" Id="Raeb0ec924d6f431e" /><Relationship Type="http://schemas.openxmlformats.org/officeDocument/2006/relationships/presProps" Target="/ppt/presProps.xml" Id="R6a7e874bdccd45bd" /><Relationship Type="http://schemas.openxmlformats.org/officeDocument/2006/relationships/tableStyles" Target="/ppt/tableStyles.xml" Id="R9c15c43084dc4162" /><Relationship Type="http://schemas.openxmlformats.org/officeDocument/2006/relationships/slide" Target="/ppt/slides/slide1.xml" Id="R64bea897a19b424b" /><Relationship Type="http://schemas.openxmlformats.org/officeDocument/2006/relationships/slide" Target="/ppt/slides/slide2.xml" Id="Ra5a4602c3dbf4c30" /><Relationship Type="http://schemas.openxmlformats.org/officeDocument/2006/relationships/slide" Target="/ppt/slides/slide3.xml" Id="R21cacffa0d5e406b" /><Relationship Type="http://schemas.openxmlformats.org/officeDocument/2006/relationships/slide" Target="/ppt/slides/slide4.xml" Id="Red6aabf52ae44e2c" /><Relationship Type="http://schemas.openxmlformats.org/officeDocument/2006/relationships/slide" Target="/ppt/slides/slide5.xml" Id="R50d62b6928f54774" /><Relationship Type="http://schemas.openxmlformats.org/officeDocument/2006/relationships/slide" Target="/ppt/slides/slide6.xml" Id="R5463ed6557f443d6" /><Relationship Type="http://schemas.openxmlformats.org/officeDocument/2006/relationships/slide" Target="/ppt/slides/slide7.xml" Id="R7b950abf47324193" /><Relationship Type="http://schemas.openxmlformats.org/officeDocument/2006/relationships/slide" Target="/ppt/slides/slide8.xml" Id="R8391e350068547ac" /><Relationship Type="http://schemas.openxmlformats.org/officeDocument/2006/relationships/slide" Target="/ppt/slides/slide9.xml" Id="R2368ace20a204cca" /><Relationship Type="http://schemas.openxmlformats.org/officeDocument/2006/relationships/slide" Target="/ppt/slides/slide10.xml" Id="Ra2310ad57b96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805990998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12b9343114c90" /><Relationship Type="http://schemas.openxmlformats.org/officeDocument/2006/relationships/notesMaster" Target="/ppt/notesMasters/notesMaster1.xml" Id="R3534e6e43aef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af03d72d14cfe" /><Relationship Type="http://schemas.openxmlformats.org/officeDocument/2006/relationships/notesMaster" Target="/ppt/notesMasters/notesMaster1.xml" Id="R09d5c4a4c1b24f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0e2ef1a81f4cc0" /><Relationship Type="http://schemas.openxmlformats.org/officeDocument/2006/relationships/notesMaster" Target="/ppt/notesMasters/notesMaster1.xml" Id="Rcf19d83474844f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9254bde7bf4fc7" /><Relationship Type="http://schemas.openxmlformats.org/officeDocument/2006/relationships/notesMaster" Target="/ppt/notesMasters/notesMaster1.xml" Id="R8e64ab99c7ac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ec8fced7649c6" /><Relationship Type="http://schemas.openxmlformats.org/officeDocument/2006/relationships/notesMaster" Target="/ppt/notesMasters/notesMaster1.xml" Id="R58edd7ea307b48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05e54f9fe4dd8" /><Relationship Type="http://schemas.openxmlformats.org/officeDocument/2006/relationships/notesMaster" Target="/ppt/notesMasters/notesMaster1.xml" Id="R825a228449f14c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525d837e0f4731" /><Relationship Type="http://schemas.openxmlformats.org/officeDocument/2006/relationships/notesMaster" Target="/ppt/notesMasters/notesMaster1.xml" Id="Rc12860d71c6942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bd860998c4bc5" /><Relationship Type="http://schemas.openxmlformats.org/officeDocument/2006/relationships/notesMaster" Target="/ppt/notesMasters/notesMaster1.xml" Id="R3dd05279f16b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51b7db4a8d49b1" /><Relationship Type="http://schemas.openxmlformats.org/officeDocument/2006/relationships/notesMaster" Target="/ppt/notesMasters/notesMaster1.xml" Id="Rdad64d776b0b46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4cf1b001544b98" /><Relationship Type="http://schemas.openxmlformats.org/officeDocument/2006/relationships/notesMaster" Target="/ppt/notesMasters/notesMaster1.xml" Id="R77346aa67df4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BQP - WISER Quantum Challenge [SHARED] (3).pdf; Summer Program 2026 BQP Challenge (1).pdf; configs/final_experiment_manifest.yaml.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report/technical_report.pdf; results/figures/reduced_device_schematic.png.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results/metrics/quantum_derivative_gate.json; results/metrics/reference_validation.json; configs/final_experiment_manifest.yaml.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results/metrics/final_transient_metrics.csv; results/metrics/final_transient_summary.csv; generated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results/metrics/feature_diversity.csv; results/runs/*_explainability.npz; generated feature-map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results/metrics/fourier_spectral_errors.csv; results/metrics/fourier_spectral_summary.csv; results/runs/*_arrays.npz.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results/metrics/steady_metrics.csv; results/metrics/steady_summary.csv; results/steady_runs/*.json.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docs/results_interpretation.md; report/technical_report.pdf.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README.md; requirements-lock.txt; results/metrics/*.csv; results/runs/*.json; results/steady_runs/*.json.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configs/final_experiment_manifest.yaml; docs/results_interpretation.md.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977ba9271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2db3e571924a55" /><Relationship Type="http://schemas.openxmlformats.org/officeDocument/2006/relationships/slideLayout" Target="/ppt/slideLayouts/slideLayout1.xml" Id="R21605a2e4040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05a2e4040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06e077eaf4494" /><Relationship Type="http://schemas.openxmlformats.org/officeDocument/2006/relationships/notesSlide" Target="/ppt/notesSlides/notesSlide1.xml" Id="R059cd9cd4b8a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2c38afad94cc6" /><Relationship Type="http://schemas.openxmlformats.org/officeDocument/2006/relationships/image" Target="/ppt/media/image.png" Id="R488f52c6916447e1" /><Relationship Type="http://schemas.openxmlformats.org/officeDocument/2006/relationships/notesSlide" Target="/ppt/notesSlides/notesSlide2.xml" Id="R632f2de4451544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b25df8a86458b" /><Relationship Type="http://schemas.openxmlformats.org/officeDocument/2006/relationships/notesSlide" Target="/ppt/notesSlides/notesSlide3.xml" Id="R76de07beb8974f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a4c89944c4a3b" /><Relationship Type="http://schemas.openxmlformats.org/officeDocument/2006/relationships/image" Target="/ppt/media/image2.png" Id="R8f740728eeac41e9" /><Relationship Type="http://schemas.openxmlformats.org/officeDocument/2006/relationships/image" Target="/ppt/media/image3.png" Id="R479a6f5a351a4b08" /><Relationship Type="http://schemas.openxmlformats.org/officeDocument/2006/relationships/notesSlide" Target="/ppt/notesSlides/notesSlide4.xml" Id="Rff5cae10089b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24e0ed3784321" /><Relationship Type="http://schemas.openxmlformats.org/officeDocument/2006/relationships/image" Target="/ppt/media/image4.png" Id="R35797b71614d4eb1" /><Relationship Type="http://schemas.openxmlformats.org/officeDocument/2006/relationships/image" Target="/ppt/media/image5.png" Id="R7852cd03402c4f4b" /><Relationship Type="http://schemas.openxmlformats.org/officeDocument/2006/relationships/image" Target="/ppt/media/image6.png" Id="R2ba9b08f30274412" /><Relationship Type="http://schemas.openxmlformats.org/officeDocument/2006/relationships/notesSlide" Target="/ppt/notesSlides/notesSlide5.xml" Id="R38758cc92fd0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e9b4836a54639" /><Relationship Type="http://schemas.openxmlformats.org/officeDocument/2006/relationships/image" Target="/ppt/media/image7.png" Id="Re8df2dee9fed42d4" /><Relationship Type="http://schemas.openxmlformats.org/officeDocument/2006/relationships/image" Target="/ppt/media/image8.png" Id="R0089a0b0b9a24653" /><Relationship Type="http://schemas.openxmlformats.org/officeDocument/2006/relationships/notesSlide" Target="/ppt/notesSlides/notesSlide6.xml" Id="Rdc0ccb2d8624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a515c6574f9c" /><Relationship Type="http://schemas.openxmlformats.org/officeDocument/2006/relationships/image" Target="/ppt/media/image9.png" Id="R669a864e34034336" /><Relationship Type="http://schemas.openxmlformats.org/officeDocument/2006/relationships/notesSlide" Target="/ppt/notesSlides/notesSlide7.xml" Id="R8f39bd2365dc49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d7fd4d93a4cf6" /><Relationship Type="http://schemas.openxmlformats.org/officeDocument/2006/relationships/notesSlide" Target="/ppt/notesSlides/notesSlide8.xml" Id="R4ef6b94b09fd46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d4b128fa74529" /><Relationship Type="http://schemas.openxmlformats.org/officeDocument/2006/relationships/notesSlide" Target="/ppt/notesSlides/notesSlide9.xml" Id="R2a7e2ab7d25c47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9a4f3fe11405b" /><Relationship Type="http://schemas.openxmlformats.org/officeDocument/2006/relationships/notesSlide" Target="/ppt/notesSlides/notesSlide10.xml" Id="Rcaf9c82097f64f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C84AB-48A9-4329-B493-6AF40EAA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90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Explainable Quantum-Assisted PINNs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22FE9-37A7-4445-BD63-D19080E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Reduced thermo-optic phase-shifter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020B8-489C-45CD-956D-FD6A2747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2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Static and transient thermal PDEs | Classical controls | Q0/Q1 entanglement ablation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4284A-5B00-48CF-8019-8AC4015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Amoggh Bellad &lt;amogghb@gmail.com&gt; | Shahar Ankonina &lt;shahar.ankonina05@gmail.com&gt;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A8502-4BFA-4F62-8F50-BE91CDE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WISER-BQP Quantum-Assisted PINN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56FE2-A5EF-4A0F-A71C-311871C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17744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D40D6-94C9-4B29-8950-0300924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study asks what the quantum layer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F87C7-E1A0-4101-9153-69521DA5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reduced device model keeps the physics defensible and the ablation controlled.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DCA6B-E771-4CDA-BDA0-33B05C41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DD80D-F843-40B8-B6E1-6DD21C0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810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Thermal PDE is learned; optical phase and crosstalk are computed afterward.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Q0 and Q1 are parameter matched; Q1 differs by one CNOT.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No hardware speedup, quantum advantage, or fabricated-device calibration is claimed.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f52c6916447e1"/>
          <a:stretch xmlns:a="http://schemas.openxmlformats.org/drawingml/2006/main"/>
        </p:blipFill>
        <p:spPr>
          <a:xfrm xmlns:a="http://schemas.openxmlformats.org/drawingml/2006/main">
            <a:off x="5667375" y="2555081"/>
            <a:ext cx="5810250" cy="20335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F9446-19E6-4FD2-8FF4-D593C221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97554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D395E-2E30-4CAD-A73C-63F4FF0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protocol was frozen around four core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E2C53-27AB-44BC-8805-0F276AEF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Same physics, seeds, optimizer, dtype, collocation rule, and evaluation grid.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695F1-B487-431E-A2C5-FED2B5A1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9FCAF-64D4-4394-8024-F038C18C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77326-3A98-45C8-9F37-E6FFE08B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DA7F3-06C7-40F9-BB96-ED5D4A8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54AD6-BB09-4AFA-AD8B-5963EA2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7AB9C-948D-41CB-AEEF-0A340A3F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classical_matched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C1361-D923-4733-BD09-269293CA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parameter budget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C5239-CBC7-4520-A6D6-5F8C253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343 params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FCFDB-F5A4-4742-B920-82CDAC51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AD3A9-36FB-431F-B152-C7936F19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classical_standard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DB874-A19E-45FE-AD44-15911AF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higher-capacity classical PINN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878B7-8194-4B64-B330-8306F00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2241 params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389F1-7EE2-4DD7-B02A-7E4F29EF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3B9EF-58FF-4D0C-B0F8-C49BBE01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Q0 separable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30884-6980-49E2-8F67-012E3B2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two-qubit feature layer without CNOT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EA122-B7E0-4F8F-ABEC-DE3C25C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343 params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64B46-B8D6-4A17-8A27-F486872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5F2A4-7E05-45A0-8BC0-3946D4C5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Q1 entangled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F2856-48CD-4057-97D5-5FEFEF9E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Q0 plus one CNOT(0,1)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05F26-5A52-4A6C-945B-5D240B13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343 params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6E147-104F-4510-A660-567C31D6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Derivative gate: finite dq/dxi, dq/dtau, d2q/dxi2, and quantum parameter gradients.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B6998-0B32-4AA3-94C4-1AA1E41B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24869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FC4D8-9CAD-43D5-A591-968115D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63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 the transient PDE, Q0 beat the matched baseline but not the standard PINN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0EE2D-493F-47FE-B158-449E6949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standard classical control prevents overclaiming a parameter-efficiency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8F056-AD45-4EC6-A6CF-3BFD78B7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40728eeac41e9"/>
          <a:stretch xmlns:a="http://schemas.openxmlformats.org/drawingml/2006/main"/>
        </p:blipFill>
        <p:spPr>
          <a:xfrm xmlns:a="http://schemas.openxmlformats.org/drawingml/2006/main">
            <a:off x="514350" y="1872343"/>
            <a:ext cx="5715000" cy="3265714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a6f5a351a4b08"/>
          <a:stretch xmlns:a="http://schemas.openxmlformats.org/drawingml/2006/main"/>
        </p:blipFill>
        <p:spPr>
          <a:xfrm xmlns:a="http://schemas.openxmlformats.org/drawingml/2006/main">
            <a:off x="6524625" y="1854200"/>
            <a:ext cx="4953000" cy="330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D4280-6D73-499B-987B-99DD5CFA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Mean relative L2: standard classical 0.0868, Q0 0.1235, matched classical 0.2074, Q1 0.2137.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F366A-6F3A-404C-B3B9-30E26FCC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5202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1EBA0-AB46-4AAC-9C9C-BE96015D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81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Entanglement created interaction, not better transient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71485-81B3-43E3-81BE-FB735718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CNOT changed representation in the intended way, but the physical error did not improve.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9D9B3-80EE-4FA9-9252-28830DAD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97b71614d4eb1"/>
          <a:stretch xmlns:a="http://schemas.openxmlformats.org/drawingml/2006/main"/>
        </p:blipFill>
        <p:spPr>
          <a:xfrm xmlns:a="http://schemas.openxmlformats.org/drawingml/2006/main">
            <a:off x="457200" y="1695450"/>
            <a:ext cx="5334000" cy="23336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2cd03402c4f4b"/>
          <a:stretch xmlns:a="http://schemas.openxmlformats.org/drawingml/2006/main"/>
        </p:blipFill>
        <p:spPr>
          <a:xfrm xmlns:a="http://schemas.openxmlformats.org/drawingml/2006/main">
            <a:off x="457200" y="4143375"/>
            <a:ext cx="5334000" cy="233362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9b08f30274412"/>
          <a:stretch xmlns:a="http://schemas.openxmlformats.org/drawingml/2006/main"/>
        </p:blipFill>
        <p:spPr>
          <a:xfrm xmlns:a="http://schemas.openxmlformats.org/drawingml/2006/main">
            <a:off x="6191250" y="2065940"/>
            <a:ext cx="5286375" cy="2916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68569-91FF-4484-959A-6DECFF5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2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Q1 feature 1: mean interaction 3.80; Q0 features remain near zero.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1E114-B0CA-4674-A73E-81F6BB1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27043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BB660-CE2B-4893-9C43-97099F6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4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Spectra and residuals show why accuracy matters more than feature complexity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30139-CA4B-4F33-89E2-F6B281C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Extra representation structure is only useful if it reduces physical error.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7D20B-27B7-4AAC-A48D-DEF72E1B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f2dee9fed42d4"/>
          <a:stretch xmlns:a="http://schemas.openxmlformats.org/drawingml/2006/main"/>
        </p:blipFill>
        <p:spPr>
          <a:xfrm xmlns:a="http://schemas.openxmlformats.org/drawingml/2006/main">
            <a:off x="476250" y="1916566"/>
            <a:ext cx="5143500" cy="2939143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9a0b0b9a24653"/>
          <a:stretch xmlns:a="http://schemas.openxmlformats.org/drawingml/2006/main"/>
        </p:blipFill>
        <p:spPr>
          <a:xfrm xmlns:a="http://schemas.openxmlformats.org/drawingml/2006/main">
            <a:off x="6096000" y="2513211"/>
            <a:ext cx="5476875" cy="168870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FB139-1205-41C7-B1B7-75B35D1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Fourier and residual analyses are computed from saved arrays, not manually typed result values.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C0D06-0E92-4542-A3DC-B70CF608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13472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BD1FD-E85E-453A-8513-A371C096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steady Poisson task adds a second PDE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2B899-72AC-4A76-A582-A25BB285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Only position is required, so entanglement should not be assumed useful.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3D87D-6F6B-4E42-945C-B047A1D6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a864e34034336"/>
          <a:stretch xmlns:a="http://schemas.openxmlformats.org/drawingml/2006/main"/>
        </p:blipFill>
        <p:spPr>
          <a:xfrm xmlns:a="http://schemas.openxmlformats.org/drawingml/2006/main">
            <a:off x="523875" y="1918607"/>
            <a:ext cx="5953125" cy="34017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E7A52-4ABA-4CA1-ABAA-67BAFED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43125"/>
            <a:ext cx="4333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Q1 had the lowest mean steady relative L2 in this small-budget protocol.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standard classical model was close and far faster.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The steady result is not enough to claim a general entanglement advantage.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DF934-B6A6-438F-AB52-A2A003CB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538507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CB996-D356-4A8C-B526-E42E7ABA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defensible conclusion is conditional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1A2E2-50C5-4159-8E18-570EFF9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project supports a circuit-selection rule, not a quantum-advantage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D8F61-6D41-4CC0-83F3-B306CBA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C8B34-ED6E-481A-B1E3-6446034D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9334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Use the shallow separable circuit as a compact parameter-efficiency control.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Add entanglement only when interaction, spectrum, and physical metrics improve together.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Report parameter count separately from simulator runtime.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Preserve negative results: Q1 added interaction but did not help transient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C9859-578D-426B-A145-EA192FBF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71907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6EA4C-D4D7-4A18-B27B-32B7E52F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56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submission is reproducible from scripts and saved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A1F7-7CD3-4EAF-BDE4-D16A401F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Every table and figure is backed by machine-readable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06B84-63AC-4AAB-A0BD-9D93F347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CCC1A-578F-436E-B913-F5935C6E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Environment: Python 3.11, Torch 2.2.2, PennyLane 0.35.1, NumPy 1.26.4.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Core commands: pytest, validate_physics.py, test_quantum_derivatives.py, run_final_transient.py, run_steady.py, analyze_results.py.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Outputs: metrics CSVs, JSON run records, NPZ arrays, figures, report PDF, and this deck.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E1D3B-365C-4011-8A15-15FECB14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BF26C-E86B-42DD-AA57-5846D11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148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AF605-1C11-4C3B-880F-846D735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D76EF-E4B1-43F9-B1D1-44911F11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5F201-B10F-4B92-B443-98A6D66D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focused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CCF73-3D3D-4528-A144-81C8572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24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2FC3F-C539-4EFF-96B9-1A901C2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910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 and derivative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71CCF-8721-4126-A728-A92DE895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24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package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7DEAC-D908-4143-B68E-FD7F413A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791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report, slides, source,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5DC88-4C00-451F-930C-FA9223E2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931181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BF4C2-66FC-4810-933D-F32FAFA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work should test mechanisms, not bigger circuits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DAED5-A0BF-4FB0-BC12-10132A40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current result supports a cautious research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76CB4-EF41-4A3B-B99E-9E7955F5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8AACE-E78F-4495-9560-F31DF023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1EABE-822E-4C2F-986F-7B28B04A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86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57617-91F9-4252-8756-8F7782A5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97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optimizer-budget sensitivity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338BE-5D24-488F-BE35-6DDCC0C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193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whether Q0, Q1, and the classical baselines change rank order with more training.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AE2B0-8926-4A6D-9B8A-A715630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C041F-C198-463A-8018-620A2CC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86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731EC-2AC2-4E13-86A0-C365D02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Q2 data re-uploading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CB975-FA24-4D2D-B698-3056E37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813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 added parameters, gates, depth, runtime, spectra, gradients, and physical error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6B9E2-8A48-48C0-B6EA-A5BD3280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8BF3B-39FB-4F87-A3CC-CAE3AB93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86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FCFAD-332F-4E70-80DF-8A899A7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classical Fourier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8A52-93BD-4578-B705-CE160AD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434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2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quantum angle encoding from a general trigonometric inductive bias.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2FCF1-8DE2-4CAA-954A-740093B9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5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Defer 2D/3D photonic simulation until the reduced-order workflow is stable under these tests.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964B0-E899-44FA-8EDD-94C01D1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5320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2026-08-08T03:41:00.7870000Z</dcterms:created>
  <dcterms:modified xsi:type="dcterms:W3CDTF">2026-08-08T03:41:00.7870000Z</dcterms:modified>
</coreProperties>
</file>